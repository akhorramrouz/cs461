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Epoch 1</c:v>
                  </c:pt>
                  <c:pt idx="1">
                    <c:v>Epoch 5</c:v>
                  </c:pt>
                  <c:pt idx="2">
                    <c:v>Epoch 10</c:v>
                  </c:pt>
                  <c:pt idx="3">
                    <c:v>Epoch 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85</c:v>
                </c:pt>
                <c:pt idx="2">
                  <c:v>95</c:v>
                </c:pt>
                <c:pt idx="3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Training Progress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5210" y="1257300"/>
            <a:ext cx="807358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&amp; Convolutional Neural Networks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09363" y="2781300"/>
            <a:ext cx="2925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17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Technical Guide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83393" y="3619500"/>
            <a:ext cx="45772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4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• Mathematics • Architectures • Applications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595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Neural Networks?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44935"/>
            <a:ext cx="3886200" cy="1579215"/>
          </a:xfrm>
          <a:prstGeom prst="roundRect">
            <a:avLst>
              <a:gd name="adj" fmla="val 72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373535"/>
            <a:ext cx="3497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724025"/>
            <a:ext cx="34975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models inspired by biological brains with interconnected nodes organized in layers.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952750"/>
            <a:ext cx="3886200" cy="1655415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3181350"/>
            <a:ext cx="3497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531840"/>
            <a:ext cx="3429000" cy="8477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Layer: Receives raw data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Layers: Process information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Layer: Produces predictions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01168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3108960"/>
            <a:ext cx="365760" cy="36576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548640"/>
            <a:ext cx="365760" cy="365760"/>
          </a:xfrm>
          <a:prstGeom prst="ellipse">
            <a:avLst/>
          </a:prstGeom>
          <a:solidFill>
            <a:srgbClr val="17D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1371600"/>
            <a:ext cx="365760" cy="365760"/>
          </a:xfrm>
          <a:prstGeom prst="ellipse">
            <a:avLst/>
          </a:prstGeom>
          <a:solidFill>
            <a:srgbClr val="17D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2194560"/>
            <a:ext cx="365760" cy="365760"/>
          </a:xfrm>
          <a:prstGeom prst="ellipse">
            <a:avLst/>
          </a:prstGeom>
          <a:solidFill>
            <a:srgbClr val="17D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3017520"/>
            <a:ext cx="365760" cy="365760"/>
          </a:xfrm>
          <a:prstGeom prst="ellipse">
            <a:avLst/>
          </a:prstGeom>
          <a:solidFill>
            <a:srgbClr val="17D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128016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0" y="237744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6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Math: Forward Propagation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1617"/>
            <a:ext cx="8229600" cy="13263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944017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09600" y="1251645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weighted sum of inputs plus bias: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09600" y="1539180"/>
            <a:ext cx="7924800" cy="426393"/>
          </a:xfrm>
          <a:prstGeom prst="roundRect">
            <a:avLst>
              <a:gd name="adj" fmla="val 1787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1539180"/>
            <a:ext cx="0" cy="426393"/>
          </a:xfrm>
          <a:prstGeom prst="line">
            <a:avLst/>
          </a:prstGeom>
          <a:noFill/>
          <a:ln w="381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261" y="1645741"/>
            <a:ext cx="78270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w₁x₁ + w₂x₂ + ... + wₙxₙ +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8473"/>
            <a:ext cx="8229600" cy="13263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460873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Function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09600" y="2768501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non-linear transformation: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09600" y="3056037"/>
            <a:ext cx="7924800" cy="426393"/>
          </a:xfrm>
          <a:prstGeom prst="roundRect">
            <a:avLst>
              <a:gd name="adj" fmla="val 1787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3056037"/>
            <a:ext cx="0" cy="426393"/>
          </a:xfrm>
          <a:prstGeom prst="line">
            <a:avLst/>
          </a:prstGeom>
          <a:noFill/>
          <a:ln w="381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261" y="3162598"/>
            <a:ext cx="78270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σ(z)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25329"/>
            <a:ext cx="8229600" cy="839093"/>
          </a:xfrm>
          <a:prstGeom prst="roundRect">
            <a:avLst>
              <a:gd name="adj" fmla="val 13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3977729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09600" y="4285357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becomes input for next layer until reaching final layer.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65385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6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Math: Backpropagation &amp;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547985"/>
            <a:ext cx="8229600" cy="13263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700385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Loss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09600" y="1008013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prediction error using loss function: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09600" y="1295549"/>
            <a:ext cx="7924800" cy="426393"/>
          </a:xfrm>
          <a:prstGeom prst="roundRect">
            <a:avLst>
              <a:gd name="adj" fmla="val 1787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1295549"/>
            <a:ext cx="0" cy="426393"/>
          </a:xfrm>
          <a:prstGeom prst="line">
            <a:avLst/>
          </a:prstGeom>
          <a:noFill/>
          <a:ln w="381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261" y="1402110"/>
            <a:ext cx="78270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(y_predicted - y_actual)²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64841"/>
            <a:ext cx="8229600" cy="13263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2217241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Gradients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09600" y="2524869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chain rule to find weight impact: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09600" y="2812405"/>
            <a:ext cx="7924800" cy="426393"/>
          </a:xfrm>
          <a:prstGeom prst="roundRect">
            <a:avLst>
              <a:gd name="adj" fmla="val 1787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2812405"/>
            <a:ext cx="0" cy="426393"/>
          </a:xfrm>
          <a:prstGeom prst="line">
            <a:avLst/>
          </a:prstGeom>
          <a:noFill/>
          <a:ln w="38100">
            <a:solidFill>
              <a:srgbClr val="2E8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261" y="2918966"/>
            <a:ext cx="78270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∂L/∂w = ∂L/∂a × ∂a/∂z × ∂z/∂w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81698"/>
            <a:ext cx="8229600" cy="13263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3734098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Weights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09600" y="4041725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weights to reduce loss: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609600" y="4329261"/>
            <a:ext cx="7924800" cy="426393"/>
          </a:xfrm>
          <a:prstGeom prst="roundRect">
            <a:avLst>
              <a:gd name="adj" fmla="val 17871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8650" y="4329261"/>
            <a:ext cx="0" cy="426393"/>
          </a:xfrm>
          <a:prstGeom prst="line">
            <a:avLst/>
          </a:prstGeom>
          <a:noFill/>
          <a:ln w="38100">
            <a:solidFill>
              <a:srgbClr val="2E8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261" y="4435822"/>
            <a:ext cx="78270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w_new = w_old - α × ∂L/∂w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67231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6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Image Recognition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53108"/>
            <a:ext cx="3924300" cy="1065758"/>
          </a:xfrm>
          <a:prstGeom prst="roundRect">
            <a:avLst>
              <a:gd name="adj" fmla="val 107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205508"/>
            <a:ext cx="3691890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09600" y="1513136"/>
            <a:ext cx="369189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handwritten digits (0-9) from 28x28 images.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57200" y="2309366"/>
            <a:ext cx="3924300" cy="1368623"/>
          </a:xfrm>
          <a:prstGeom prst="roundRect">
            <a:avLst>
              <a:gd name="adj" fmla="val 83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461766"/>
            <a:ext cx="3691890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609600" y="2769394"/>
            <a:ext cx="3619500" cy="7561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buSzPct val="100000"/>
              <a:buChar char="•"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784 neurons (28×28 pixels)</a:t>
            </a:r>
            <a:endParaRPr lang="en-US" sz="1275" dirty="0"/>
          </a:p>
          <a:p>
            <a:pPr algn="l" marL="85725" indent="-85725">
              <a:lnSpc>
                <a:spcPts val="1785"/>
              </a:lnSpc>
              <a:buSzPct val="100000"/>
              <a:buChar char="•"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Hidden: 128 neurons with ReLU</a:t>
            </a:r>
            <a:endParaRPr lang="en-US" sz="1275" dirty="0"/>
          </a:p>
          <a:p>
            <a:pPr algn="l" marL="85725" indent="-85725">
              <a:lnSpc>
                <a:spcPts val="1785"/>
              </a:lnSpc>
              <a:buSzPct val="100000"/>
              <a:buChar char="•"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10 neurons (digits 0-9)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57200" y="3868489"/>
            <a:ext cx="3924300" cy="839093"/>
          </a:xfrm>
          <a:prstGeom prst="roundRect">
            <a:avLst>
              <a:gd name="adj" fmla="val 13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4020889"/>
            <a:ext cx="3691890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09600" y="4328517"/>
            <a:ext cx="369189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60K images, achieve 98% accuracy.</a:t>
            </a:r>
            <a:endParaRPr lang="en-US" sz="1275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762500" y="2851696"/>
          <a:ext cx="76200" cy="571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5775"/>
            <a:ext cx="53823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 vs Deep Learning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1575"/>
          <a:ext cx="8229600" cy="333375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Traditional ML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Deep Learning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Feature Engineering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Manual - requires domain expertise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Automatic - learns features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Data Requirements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Small datasets sufficient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Requires large amounts of data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Computational Cost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Low - standard hardware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High - needs GPUs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Performance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Good on structured data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Superior on images/text/audio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Training Time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Fast - minutes to hours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Slow - hours to days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Architecture Basics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19200"/>
            <a:ext cx="8229600" cy="1064865"/>
          </a:xfrm>
          <a:prstGeom prst="roundRect">
            <a:avLst>
              <a:gd name="adj" fmla="val 10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47800"/>
            <a:ext cx="79278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CNNs Special?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798290"/>
            <a:ext cx="79278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are designed for grid-like data (images) using spatial hierarchies and local patterns.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544068"/>
            <a:ext cx="2438400" cy="2110680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2772668"/>
            <a:ext cx="202082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Layers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397448"/>
            <a:ext cx="202082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features using sliding filters (kernels) that detect patterns like edges and textures.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52800" y="2552700"/>
            <a:ext cx="2438400" cy="2093565"/>
          </a:xfrm>
          <a:prstGeom prst="roundRect">
            <a:avLst>
              <a:gd name="adj" fmla="val 54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81400" y="2781300"/>
            <a:ext cx="20208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Layers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81400" y="3131790"/>
            <a:ext cx="202082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spatial dimensions while retaining important information through downsampling.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48400" y="2552700"/>
            <a:ext cx="2438400" cy="2093565"/>
          </a:xfrm>
          <a:prstGeom prst="roundRect">
            <a:avLst>
              <a:gd name="adj" fmla="val 54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0" y="2781300"/>
            <a:ext cx="202082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Connected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7000" y="3131790"/>
            <a:ext cx="202082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layers flatten features and make predictions using traditional neural network structure.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6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Convolution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253282"/>
            <a:ext cx="3924300" cy="1542455"/>
          </a:xfrm>
          <a:prstGeom prst="roundRect">
            <a:avLst>
              <a:gd name="adj" fmla="val 7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405682"/>
            <a:ext cx="3691890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09600" y="1713309"/>
            <a:ext cx="369189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slides across image, performing element-wise multiplication and summing results.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09600" y="2227511"/>
            <a:ext cx="3619500" cy="415826"/>
          </a:xfrm>
          <a:prstGeom prst="roundRect">
            <a:avLst>
              <a:gd name="adj" fmla="val 18325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227511"/>
            <a:ext cx="0" cy="415826"/>
          </a:xfrm>
          <a:prstGeom prst="line">
            <a:avLst/>
          </a:prstGeom>
          <a:noFill/>
          <a:ln w="381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261" y="2334071"/>
            <a:ext cx="3435644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Output(i,j) = Σ Kernel × Input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57200" y="2986236"/>
            <a:ext cx="3924300" cy="1368623"/>
          </a:xfrm>
          <a:prstGeom prst="roundRect">
            <a:avLst>
              <a:gd name="adj" fmla="val 83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138636"/>
            <a:ext cx="3691890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09600" y="3446264"/>
            <a:ext cx="3619500" cy="756196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1785"/>
              </a:lnSpc>
              <a:buSzPct val="100000"/>
              <a:buChar char="•"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Size: 3×3, 5×5, 7×7</a:t>
            </a:r>
            <a:endParaRPr lang="en-US" sz="1275" dirty="0"/>
          </a:p>
          <a:p>
            <a:pPr algn="l" marL="72390" indent="-72390">
              <a:lnSpc>
                <a:spcPts val="1785"/>
              </a:lnSpc>
              <a:buSzPct val="100000"/>
              <a:buChar char="•"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Stride: Step size (1 or 2)</a:t>
            </a:r>
            <a:endParaRPr lang="en-US" sz="1275" dirty="0"/>
          </a:p>
          <a:p>
            <a:pPr algn="l" marL="72390" indent="-72390">
              <a:lnSpc>
                <a:spcPts val="1785"/>
              </a:lnSpc>
              <a:buSzPct val="100000"/>
              <a:buChar char="•"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Padding: Border handling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5486400" y="91440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91440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1440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91440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91440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23444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23444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23444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23444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23444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55448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55448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55448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55448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55448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187452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187452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87452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187452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87452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219456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219456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19456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219456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2194560"/>
            <a:ext cx="32004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123444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123444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123444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06440" y="155448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155448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155448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06440" y="187452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187452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1874520"/>
            <a:ext cx="320040" cy="320040"/>
          </a:xfrm>
          <a:prstGeom prst="rect">
            <a:avLst/>
          </a:prstGeom>
          <a:solidFill>
            <a:srgbClr val="17D4F4"/>
          </a:solidFill>
          <a:ln w="25400">
            <a:solidFill>
              <a:srgbClr val="2E86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286000"/>
            <a:ext cx="548640" cy="274320"/>
          </a:xfrm>
          <a:prstGeom prst="rightArrow">
            <a:avLst/>
          </a:prstGeom>
          <a:solidFill>
            <a:srgbClr val="2E86DE"/>
          </a:solidFill>
          <a:ln/>
        </p:spPr>
      </p:sp>
      <p:sp>
        <p:nvSpPr>
          <p:cNvPr id="47" name="Shape 45"/>
          <p:cNvSpPr/>
          <p:nvPr/>
        </p:nvSpPr>
        <p:spPr>
          <a:xfrm>
            <a:off x="7863840" y="2103120"/>
            <a:ext cx="457200" cy="457200"/>
          </a:xfrm>
          <a:prstGeom prst="rect">
            <a:avLst/>
          </a:prstGeom>
          <a:solidFill>
            <a:srgbClr val="27AE60"/>
          </a:solidFill>
          <a:ln w="25400">
            <a:solidFill>
              <a:srgbClr val="2E86D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5775"/>
            <a:ext cx="44982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CNN Architectures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1575"/>
          <a:ext cx="8229600" cy="333375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822960"/>
                <a:gridCol w="1188720"/>
                <a:gridCol w="4114800"/>
              </a:tblGrid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Layers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Parameters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Innovation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LeNet-5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1998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First successful CNN for digits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AlexNet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ReLU, dropout, GPU training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VGG-16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138M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Small 3×3 filters throughout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ResNet-50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Skip connections solve vanishing gradient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EfficientNet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5-66M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Compound scaling for efficiency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2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5961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Applications by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83035"/>
            <a:ext cx="3886200" cy="1655415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11635"/>
            <a:ext cx="3497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LeNet-5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762125"/>
            <a:ext cx="3429000" cy="8477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digit recognition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pattern recognition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0600" y="1183035"/>
            <a:ext cx="3886200" cy="1655415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0" y="1411635"/>
            <a:ext cx="3497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762125"/>
            <a:ext cx="3429000" cy="8477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image classification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recognition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search systems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067050"/>
            <a:ext cx="3886200" cy="1655415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295650"/>
            <a:ext cx="3497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646140"/>
            <a:ext cx="3429000" cy="8477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base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analysis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0600" y="3067050"/>
            <a:ext cx="3886200" cy="1655415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0" y="3295650"/>
            <a:ext cx="34975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646140"/>
            <a:ext cx="3429000" cy="84772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scene understanding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classification</a:t>
            </a:r>
            <a:endParaRPr lang="en-US" sz="1350" dirty="0"/>
          </a:p>
          <a:p>
            <a:pPr algn="l" marL="85725" indent="-85725">
              <a:lnSpc>
                <a:spcPts val="2025"/>
              </a:lnSpc>
              <a:buSzPct val="100000"/>
              <a:buChar char="•"/>
            </a:pPr>
            <a:r>
              <a:rPr lang="en-US" sz="13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State-of-the-art accuracy tasks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Types &amp; Effects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418779"/>
            <a:ext cx="2438400" cy="191497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9961" y="1601539"/>
            <a:ext cx="211433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Detection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639961" y="1933724"/>
            <a:ext cx="2114336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boundaries in images.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39961" y="2463254"/>
            <a:ext cx="2072878" cy="687735"/>
          </a:xfrm>
          <a:prstGeom prst="roundRect">
            <a:avLst>
              <a:gd name="adj" fmla="val 886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341" y="2554635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[-1 -1 -1]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31341" y="2722959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  0  0]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31341" y="2891284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 1  1]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3352800" y="1532037"/>
            <a:ext cx="2438400" cy="1688306"/>
          </a:xfrm>
          <a:prstGeom prst="roundRect">
            <a:avLst>
              <a:gd name="adj" fmla="val 6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35561" y="1714798"/>
            <a:ext cx="211433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3535561" y="2046982"/>
            <a:ext cx="211433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noise and detail.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3535561" y="2349847"/>
            <a:ext cx="2072878" cy="687735"/>
          </a:xfrm>
          <a:prstGeom prst="roundRect">
            <a:avLst>
              <a:gd name="adj" fmla="val 886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26941" y="2441228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1 1]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626941" y="2609552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1 1]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626941" y="2777877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 1 1] ÷ 9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248400" y="1418779"/>
            <a:ext cx="2438400" cy="1914971"/>
          </a:xfrm>
          <a:prstGeom prst="roundRect">
            <a:avLst>
              <a:gd name="adj" fmla="val 59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31161" y="1601539"/>
            <a:ext cx="211433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6431161" y="1933724"/>
            <a:ext cx="2114336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Enhances edges and details.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6431161" y="2463254"/>
            <a:ext cx="2072878" cy="687735"/>
          </a:xfrm>
          <a:prstGeom prst="roundRect">
            <a:avLst>
              <a:gd name="adj" fmla="val 886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22541" y="2554635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[0 -1  0]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522541" y="2722959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[-1 5 -1]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522541" y="2891284"/>
            <a:ext cx="1927920" cy="168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17D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[0 -1  0]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57200" y="3562350"/>
            <a:ext cx="8229600" cy="924371"/>
          </a:xfrm>
          <a:prstGeom prst="roundRect">
            <a:avLst>
              <a:gd name="adj" fmla="val 12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9961" y="3745111"/>
            <a:ext cx="8021360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spcAft>
                <a:spcPts val="600"/>
              </a:spcAft>
              <a:buNone/>
            </a:pPr>
            <a:r>
              <a:rPr lang="en-US" sz="168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Deep Learning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639961" y="4077295"/>
            <a:ext cx="802136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learn optimal kernel values automatically during training.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6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0284"/>
            <a:ext cx="8229600" cy="839093"/>
          </a:xfrm>
          <a:prstGeom prst="roundRect">
            <a:avLst>
              <a:gd name="adj" fmla="val 13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992684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609600" y="1300311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 through layered architectures using forward propagation and backpropagation.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57200" y="1869877"/>
            <a:ext cx="8229600" cy="839093"/>
          </a:xfrm>
          <a:prstGeom prst="roundRect">
            <a:avLst>
              <a:gd name="adj" fmla="val 13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022277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609600" y="2329904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for spatial data using convolutional layers that extract hierarchical features automatically.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57200" y="2899470"/>
            <a:ext cx="8229600" cy="839093"/>
          </a:xfrm>
          <a:prstGeom prst="roundRect">
            <a:avLst>
              <a:gd name="adj" fmla="val 13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051870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609600" y="3359497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automates feature engineering and achieves superior results on complex tasks.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457200" y="3929063"/>
            <a:ext cx="8229600" cy="839093"/>
          </a:xfrm>
          <a:prstGeom prst="roundRect">
            <a:avLst>
              <a:gd name="adj" fmla="val 136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4081463"/>
            <a:ext cx="8083296" cy="246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Aft>
                <a:spcPts val="480"/>
              </a:spcAft>
              <a:buNone/>
            </a:pPr>
            <a:r>
              <a:rPr lang="en-US" sz="1620" b="1" dirty="0">
                <a:solidFill>
                  <a:srgbClr val="1A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Selection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609600" y="4389090"/>
            <a:ext cx="808329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based on task complexity from simple LeNet to deep ResNet.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 &amp; CNNs</dc:title>
  <dc:subject>PptxGenJS Presentation</dc:subject>
  <dc:creator>Neural Networks Guide</dc:creator>
  <cp:lastModifiedBy>Neural Networks Guide</cp:lastModifiedBy>
  <cp:revision>1</cp:revision>
  <dcterms:created xsi:type="dcterms:W3CDTF">2025-11-07T17:15:48Z</dcterms:created>
  <dcterms:modified xsi:type="dcterms:W3CDTF">2025-11-07T17:15:48Z</dcterms:modified>
</cp:coreProperties>
</file>